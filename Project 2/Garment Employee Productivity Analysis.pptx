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D09BC8-C497-428E-AB80-A480698CCDAA}">
  <a:tblStyle styleId="{58D09BC8-C497-428E-AB80-A480698CCD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70510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Garment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Productivity</a:t>
            </a: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81000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 201 Spring 2026 | Regression Focus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305276" y="2516534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Predicting Industrial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484215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Utilizing the UCI Machine Learning Database to build, evaluate, and improve regression models targeting productivity outputs in the garment manufacturing sector of Bangladesh.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48705"/>
            <a:ext cx="5229225" cy="47282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1548705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UCI Machine Learning Repository (2020)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015430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Population: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Manufacturing teams in sewing and finishing departments.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76790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Size: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1,197 total observations representing daily summarized outputs.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1025" y="3520380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Target: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Actual Productivity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— A continuous quantitative variable ranging from 0.0 to 1.1+ (exceeding targets).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558230"/>
            <a:ext cx="5210175" cy="470921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Garment</a:t>
            </a: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16"/>
          <p:cNvGraphicFramePr/>
          <p:nvPr/>
        </p:nvGraphicFramePr>
        <p:xfrm>
          <a:off x="581025" y="23697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{58D09BC8-C497-428E-AB80-A480698CCDAA}</a:tableStyleId>
              </a:tblPr>
              <a:tblGrid>
                <a:gridCol w="3109325"/>
                <a:gridCol w="1949050"/>
                <a:gridCol w="5971575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actual_productivity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Actual % of productivity delivered (0-1).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targeted_productivity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Targeted productivity set by authority.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smv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Minute Value: task complexity.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department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Associated department (Sewing vs Finishing).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incentive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Financial motivation in BDT.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6"/>
          <p:cNvSpPr/>
          <p:nvPr/>
        </p:nvSpPr>
        <p:spPr>
          <a:xfrm>
            <a:off x="581025" y="2903190"/>
            <a:ext cx="310931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690342" y="2903190"/>
            <a:ext cx="194905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639395" y="2903190"/>
            <a:ext cx="597157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581025" y="3422302"/>
            <a:ext cx="31093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90342" y="3422302"/>
            <a:ext cx="19490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5639395" y="3422302"/>
            <a:ext cx="5971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81025" y="3927127"/>
            <a:ext cx="31093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690342" y="3927127"/>
            <a:ext cx="19490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639395" y="3927127"/>
            <a:ext cx="5971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81025" y="4431952"/>
            <a:ext cx="31093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690342" y="4431952"/>
            <a:ext cx="19490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639395" y="4431952"/>
            <a:ext cx="5971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81025" y="4936777"/>
            <a:ext cx="31093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3690342" y="4936777"/>
            <a:ext cx="19490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639395" y="4936777"/>
            <a:ext cx="5971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81025" y="5441602"/>
            <a:ext cx="31093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690342" y="5441602"/>
            <a:ext cx="19490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639395" y="5441602"/>
            <a:ext cx="597157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Variable</a:t>
            </a: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Matrix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1652587"/>
            <a:ext cx="519064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Ensuring Data </a:t>
            </a:r>
            <a:r>
              <a:rPr b="0" i="0" lang="en-US" sz="3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Integrity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2452687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Cleaning was essential for valid modeling: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3071812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WIP Imputation: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Filled 40% missing values with 0.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81025" y="354806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String Strip: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Standardized "finishing " and "sewing" labels.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431006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Encoding: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Converted categories to one-hot binary features.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146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909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529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305276" y="3209925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Exploratory Data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Analysis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81025" y="43148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Uncovering patterns before model construction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22574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41252"/>
            <a:ext cx="35495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641252"/>
            <a:ext cx="3549699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641252"/>
            <a:ext cx="35495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904875" y="3574702"/>
            <a:ext cx="30869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Dept. Divide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04875" y="4041427"/>
            <a:ext cx="2939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Finishing tasks are short (Low SMV) while Sewing tasks range up to 55+ minutes in complexity.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644925" y="3574702"/>
            <a:ext cx="30871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Target Concentration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644925" y="4041427"/>
            <a:ext cx="29400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majority of teams cluster around a 0.80 performance band, regardless of complexity.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385125" y="3574702"/>
            <a:ext cx="30869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Sewing Outliers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385125" y="4041427"/>
            <a:ext cx="2939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Sewing is more consistent in the median but suffers from extreme low-end productivity outliers.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95557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95557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5125" y="295557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Industrial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Insights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81025" y="3036540"/>
            <a:ext cx="44118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0.166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81025" y="4465290"/>
            <a:ext cx="44118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R-Squared (Baseline)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469135" y="3284190"/>
            <a:ext cx="64489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Simple Linear Model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469135" y="3503265"/>
            <a:ext cx="61418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Features: SMV, Incentive, Team, Department, Targets.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469135" y="3969990"/>
            <a:ext cx="614183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model assumed task complexity affected every department identically—a limitation we aimed to fix.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Baseline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Regression</a:t>
            </a: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Model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48705"/>
            <a:ext cx="11029950" cy="472826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Improving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Accuracy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48705"/>
            <a:ext cx="5229225" cy="4728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558230"/>
            <a:ext cx="5210175" cy="470921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6381750" y="170110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+0.749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— Targeted Productivity: High authority expectations drive actual results.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6381750" y="2510730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-0.068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— Interaction Term: Complexity penalizes Sewing more than Finishing.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381750" y="332035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+0.000058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— Incentives: Small positive impact on overall motivation.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Coefficient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Interpretation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27002"/>
            <a:ext cx="354955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927002"/>
            <a:ext cx="3549699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927002"/>
            <a:ext cx="35495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904875" y="3212752"/>
            <a:ext cx="30869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 Motivation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904875" y="3584227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1.87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904875" y="4041427"/>
            <a:ext cx="293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Predicted for Finishing teams with high financial incentives.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4644925" y="3212752"/>
            <a:ext cx="3087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Standard Sewing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4644925" y="3584227"/>
            <a:ext cx="29400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0.84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4644925" y="4041427"/>
            <a:ext cx="29400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Predicted for basic Sewing tasks without additional incentive.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8385125" y="3212752"/>
            <a:ext cx="30869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 Complexity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8385125" y="3584227"/>
            <a:ext cx="293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0.67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385125" y="4041427"/>
            <a:ext cx="293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Complexity penalty reduces output in Sewing despite high incentives.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Predictive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Scenarios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334327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305276" y="122872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</a:t>
            </a:r>
            <a:r>
              <a:rPr b="0" i="0" lang="en-US" sz="7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?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581025" y="2562225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Garment Productivity Analysis | DATA 201</a:t>
            </a:r>
            <a:endParaRPr/>
          </a:p>
        </p:txBody>
      </p:sp>
      <p:pic>
        <p:nvPicPr>
          <p:cNvPr descr="image.png" id="226" name="Google Shape;2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3025" y="3352800"/>
            <a:ext cx="18859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581025" y="2195958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81025" y="2967483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81025" y="3739008"/>
            <a:ext cx="11029950" cy="1128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81025" y="29579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81025" y="29579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81025" y="37294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81025" y="37294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81025" y="485819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81025" y="485819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388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676400" y="2345977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https://media.istockphoto.com/id/147032302/photo/garment-factory_1.jpg?s=612x612&amp;w=0&amp;k=20&amp;c=86knWsq1Xn1zpbGxLyt3QnQX9EKZstCWAIxK3J-fRhk=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676400" y="2579340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103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1676400" y="3117502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https://media.istockphoto.com/id/507212963/photo/tailor-at-work-on-sewing-machine.jpg?s=612x612&amp;w=0&amp;k=20&amp;c=mBcv2VzKR3vH9dn7_Bhpq6e6uU2yUCWVierQWh0efqY=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676400" y="3350865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604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1676400" y="3881883"/>
            <a:ext cx="9934575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datylon.com/hs-fs/hubfs/Datylon%20Website2020/Blogs/The%205%20Best%20Data%20Visualization%20Dashboards/datylon-blog-The-5-Best-Data-Visualization-Dashboards-Exploring-Automated-Reporting-Solution-image1.png?width=1200&amp;height=639&amp;name=datylon-blog-The-5-Best-Data-Visualization-Dashboards-Exploring-Automated-Reporting-Solution-image1.pn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676400" y="448672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www.datylon.com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105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76400" y="5017740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https://slidebazaar.com/wp-content/uploads/2022/12/business-icons-for-ppt-jpg.webp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76400" y="5251102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slidebazaar.com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581025" y="581025"/>
            <a:ext cx="1158144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